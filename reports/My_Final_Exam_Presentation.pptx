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3" r:id="rId36"/>
    <p:sldId id="295" r:id="rId37"/>
    <p:sldId id="296" r:id="rId38"/>
    <p:sldId id="29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8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989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36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67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96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124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72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43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750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7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49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8992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77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355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296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23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31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F75BA-16E1-4379-8B3F-C3B7E52E8E5E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5EEC977-D3B9-4138-9B35-46E2811A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91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usiben84/Exam_Question_1.gi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usiben84/Exam_Question_2.git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85502" y="1182641"/>
            <a:ext cx="10515600" cy="54341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</a:rPr>
              <a:t>Department of </a:t>
            </a:r>
            <a:r>
              <a:rPr lang="en-US" sz="2800" b="1" dirty="0" smtClean="0">
                <a:solidFill>
                  <a:srgbClr val="FF0000"/>
                </a:solidFill>
              </a:rPr>
              <a:t>Computer Science and Information Technology</a:t>
            </a:r>
          </a:p>
          <a:p>
            <a:pPr marL="0" indent="0" algn="ctr"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Master </a:t>
            </a:r>
            <a:r>
              <a:rPr lang="en-US" sz="2800" b="1" dirty="0">
                <a:solidFill>
                  <a:srgbClr val="FF0000"/>
                </a:solidFill>
              </a:rPr>
              <a:t>of </a:t>
            </a:r>
            <a:r>
              <a:rPr lang="en-US" sz="2800" b="1" dirty="0" smtClean="0">
                <a:solidFill>
                  <a:srgbClr val="FF0000"/>
                </a:solidFill>
              </a:rPr>
              <a:t>Science in Information Systems</a:t>
            </a:r>
            <a:endParaRPr lang="en-US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End </a:t>
            </a:r>
            <a:r>
              <a:rPr lang="en-US" sz="2800" b="1" dirty="0">
                <a:solidFill>
                  <a:srgbClr val="FF0000"/>
                </a:solidFill>
              </a:rPr>
              <a:t>of </a:t>
            </a:r>
            <a:r>
              <a:rPr lang="en-US" sz="2800" b="1" dirty="0" smtClean="0">
                <a:solidFill>
                  <a:srgbClr val="FF0000"/>
                </a:solidFill>
              </a:rPr>
              <a:t>Semester Final Assessment</a:t>
            </a:r>
          </a:p>
          <a:p>
            <a:pPr marL="0" indent="0" algn="ctr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			</a:t>
            </a:r>
            <a:r>
              <a:rPr lang="en-US" sz="2800" dirty="0" smtClean="0"/>
              <a:t>	Name</a:t>
            </a:r>
            <a:r>
              <a:rPr lang="en-US" sz="2800" dirty="0"/>
              <a:t>:		</a:t>
            </a:r>
            <a:r>
              <a:rPr lang="en-US" sz="2800" dirty="0" smtClean="0"/>
              <a:t>	MUSINGUZI </a:t>
            </a:r>
            <a:r>
              <a:rPr lang="en-US" sz="2800" dirty="0"/>
              <a:t>BENSON</a:t>
            </a:r>
          </a:p>
          <a:p>
            <a:pPr marL="0" indent="0">
              <a:buNone/>
            </a:pPr>
            <a:r>
              <a:rPr lang="en-US" sz="2800" dirty="0"/>
              <a:t>			</a:t>
            </a:r>
            <a:r>
              <a:rPr lang="en-US" sz="2800" dirty="0" smtClean="0"/>
              <a:t>	Reg</a:t>
            </a:r>
            <a:r>
              <a:rPr lang="en-US" sz="2800" dirty="0"/>
              <a:t>. </a:t>
            </a:r>
            <a:r>
              <a:rPr lang="en-US" sz="2800" dirty="0" smtClean="0"/>
              <a:t>No.: </a:t>
            </a:r>
            <a:r>
              <a:rPr lang="en-US" sz="2800" dirty="0"/>
              <a:t>	</a:t>
            </a:r>
            <a:r>
              <a:rPr lang="en-US" sz="2800" dirty="0" smtClean="0"/>
              <a:t>	2024-M132-23947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			</a:t>
            </a:r>
            <a:r>
              <a:rPr lang="en-US" sz="2800" dirty="0" smtClean="0"/>
              <a:t>	Module</a:t>
            </a:r>
            <a:r>
              <a:rPr lang="en-US" sz="2800" dirty="0"/>
              <a:t>: 		</a:t>
            </a:r>
            <a:r>
              <a:rPr lang="en-US" sz="2800" dirty="0" smtClean="0"/>
              <a:t>	Intelligent </a:t>
            </a:r>
            <a:r>
              <a:rPr lang="en-US" sz="2800" dirty="0"/>
              <a:t>Systems </a:t>
            </a:r>
          </a:p>
          <a:p>
            <a:pPr marL="0" indent="0">
              <a:buNone/>
            </a:pPr>
            <a:r>
              <a:rPr lang="en-US" sz="2800" dirty="0"/>
              <a:t>			</a:t>
            </a:r>
            <a:r>
              <a:rPr lang="en-US" sz="2800" dirty="0" smtClean="0"/>
              <a:t>	Lecturer</a:t>
            </a:r>
            <a:r>
              <a:rPr lang="en-US" sz="2800" dirty="0"/>
              <a:t>:		Dr. </a:t>
            </a:r>
            <a:r>
              <a:rPr lang="en-US" sz="2800" dirty="0" err="1"/>
              <a:t>SibiteNda</a:t>
            </a:r>
            <a:r>
              <a:rPr lang="en-US" sz="2800" dirty="0"/>
              <a:t> Harriet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6" name="Picture 5" descr="D:\Deskitop backup\umulog update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470"/>
          <a:stretch/>
        </p:blipFill>
        <p:spPr bwMode="auto">
          <a:xfrm>
            <a:off x="2725782" y="78376"/>
            <a:ext cx="6244046" cy="11042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1794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Choice of questions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Answered question_1</a:t>
            </a:r>
          </a:p>
          <a:p>
            <a:r>
              <a:rPr lang="en-US" dirty="0" smtClean="0"/>
              <a:t>Question_2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19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Question 1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131" y="1188720"/>
            <a:ext cx="10829109" cy="55517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Requires: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To build an intelligent sentiment analysis system for 50,000 IMDb reviews, with two base models;</a:t>
            </a:r>
          </a:p>
          <a:p>
            <a:pPr lvl="1"/>
            <a:r>
              <a:rPr lang="en-US" dirty="0" smtClean="0"/>
              <a:t>Classical ML model using TF–IDF features.</a:t>
            </a:r>
          </a:p>
          <a:p>
            <a:pPr lvl="1"/>
            <a:r>
              <a:rPr lang="en-US" dirty="0" smtClean="0"/>
              <a:t>Deep learning model using token sequences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To build a Reinforcement Learning (RL) agent chooses which model that selects the correct model for each review</a:t>
            </a:r>
          </a:p>
          <a:p>
            <a:pPr marL="0" indent="0">
              <a:buNone/>
            </a:pPr>
            <a:r>
              <a:rPr lang="en-US" dirty="0" smtClean="0"/>
              <a:t> -Using 50,000 labelled movie reviews (positive/negative).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Implementation 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Implemented with </a:t>
            </a:r>
            <a:r>
              <a:rPr lang="en-US" dirty="0" err="1" smtClean="0"/>
              <a:t>vscode</a:t>
            </a:r>
            <a:r>
              <a:rPr lang="en-US" dirty="0" smtClean="0"/>
              <a:t> and Jupiter notebooks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The project has 5 notebooks (for each section a-d)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Notebook 5 is just a markdown cell with interpretation of the sentiment analysis with ml, dl, and </a:t>
            </a:r>
            <a:r>
              <a:rPr lang="en-US" dirty="0" err="1" smtClean="0"/>
              <a:t>rl</a:t>
            </a:r>
            <a:r>
              <a:rPr lang="en-US" dirty="0" smtClean="0"/>
              <a:t> models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Project Folder (IMDB_SENTIMENT_PROJECT) – Contains the notebooks, report and all the relevant files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Project Repository:  </a:t>
            </a:r>
            <a:r>
              <a:rPr lang="en-US" dirty="0" smtClean="0">
                <a:hlinkClick r:id="rId2"/>
              </a:rPr>
              <a:t>https://github.com/musiben84/Exam_Question_1.git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1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365125"/>
            <a:ext cx="1161288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Part A: Part A: NLP preprocessing and feature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096206" cy="50323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Loaded full IMDb dataset: 50,000 reviews with sentiment labels (train + test).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84" y="2442754"/>
            <a:ext cx="5950870" cy="41670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5377"/>
          <a:stretch/>
        </p:blipFill>
        <p:spPr>
          <a:xfrm>
            <a:off x="6309359" y="3470151"/>
            <a:ext cx="4467497" cy="196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95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-53142"/>
            <a:ext cx="10515600" cy="4973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Part A –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66" y="326572"/>
            <a:ext cx="11834948" cy="585039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Displayed 10 raw review samples and reported dataset sizes and class balance.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17" y="822993"/>
            <a:ext cx="5403377" cy="29652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245" y="1548252"/>
            <a:ext cx="3610479" cy="15146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17" y="3775137"/>
            <a:ext cx="9805560" cy="278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7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70261"/>
          </a:xfrm>
        </p:spPr>
        <p:txBody>
          <a:bodyPr>
            <a:normAutofit fontScale="90000"/>
          </a:bodyPr>
          <a:lstStyle/>
          <a:p>
            <a:r>
              <a:rPr lang="en-US" dirty="0"/>
              <a:t>Part A – Cont’d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822960"/>
            <a:ext cx="10515600" cy="587828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Text cleaning pipeline: lowercase, remove HTML tags, punctuation, numbers, extra spaces.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26" y="1563503"/>
            <a:ext cx="5548353" cy="40068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553" y="2119642"/>
            <a:ext cx="4782217" cy="268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5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4040"/>
            <a:ext cx="10515600" cy="886189"/>
          </a:xfrm>
        </p:spPr>
        <p:txBody>
          <a:bodyPr/>
          <a:lstStyle/>
          <a:p>
            <a:r>
              <a:rPr lang="en-US" dirty="0" smtClean="0"/>
              <a:t>Generated two feature sets: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2149"/>
            <a:ext cx="10515600" cy="5314814"/>
          </a:xfrm>
        </p:spPr>
        <p:txBody>
          <a:bodyPr/>
          <a:lstStyle/>
          <a:p>
            <a:r>
              <a:rPr lang="en-US" dirty="0" smtClean="0"/>
              <a:t>• TF–IDF matrix for classical ML (</a:t>
            </a:r>
            <a:r>
              <a:rPr lang="en-US" dirty="0" err="1" smtClean="0"/>
              <a:t>n_samples</a:t>
            </a:r>
            <a:r>
              <a:rPr lang="en-US" dirty="0" smtClean="0"/>
              <a:t> × </a:t>
            </a:r>
            <a:r>
              <a:rPr lang="en-US" dirty="0" err="1" smtClean="0"/>
              <a:t>n_features</a:t>
            </a:r>
            <a:r>
              <a:rPr lang="en-US" dirty="0" smtClean="0"/>
              <a:t>).</a:t>
            </a:r>
          </a:p>
          <a:p>
            <a:r>
              <a:rPr lang="en-US" dirty="0" smtClean="0"/>
              <a:t>  • Padded token sequences for deep learning (</a:t>
            </a:r>
            <a:r>
              <a:rPr lang="en-US" dirty="0" err="1" smtClean="0"/>
              <a:t>n_samples</a:t>
            </a:r>
            <a:r>
              <a:rPr lang="en-US" dirty="0" smtClean="0"/>
              <a:t> × </a:t>
            </a:r>
            <a:r>
              <a:rPr lang="en-US" dirty="0" err="1" smtClean="0"/>
              <a:t>max_len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98876"/>
            <a:ext cx="7534566" cy="45064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058" y="3663248"/>
            <a:ext cx="2912742" cy="91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90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04949"/>
            <a:ext cx="10515600" cy="57720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Reported: vocabulary size, average review length, TF–IDF shape, and sequence shape.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03" y="1580606"/>
            <a:ext cx="10032273" cy="442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58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05394"/>
          </a:xfrm>
        </p:spPr>
        <p:txBody>
          <a:bodyPr/>
          <a:lstStyle/>
          <a:p>
            <a:r>
              <a:rPr lang="fr-FR" dirty="0" smtClean="0"/>
              <a:t>Part B: </a:t>
            </a:r>
            <a:r>
              <a:rPr lang="fr-FR" dirty="0" err="1" smtClean="0"/>
              <a:t>Classical</a:t>
            </a:r>
            <a:r>
              <a:rPr lang="fr-FR" dirty="0" smtClean="0"/>
              <a:t> ML Sentiment Classifier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5395"/>
            <a:ext cx="10515600" cy="596972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(Model 1: Logistic Regression (or SVM/Naive Bayes) trained on TF–IDF features.)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F1-Score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497" y="1645920"/>
            <a:ext cx="5665000" cy="476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44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9006"/>
            <a:ext cx="10515600" cy="5967957"/>
          </a:xfrm>
        </p:spPr>
        <p:txBody>
          <a:bodyPr/>
          <a:lstStyle/>
          <a:p>
            <a:r>
              <a:rPr lang="en-US" dirty="0" smtClean="0"/>
              <a:t>(Model 1: Logistic Regression (or SVM/Naive Bayes) trained on TF–IDF features.)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Confusion Matrix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685" y="979714"/>
            <a:ext cx="7053487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50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0"/>
            <a:ext cx="12192000" cy="6176963"/>
          </a:xfrm>
        </p:spPr>
        <p:txBody>
          <a:bodyPr/>
          <a:lstStyle/>
          <a:p>
            <a:r>
              <a:rPr lang="en-US" dirty="0" smtClean="0"/>
              <a:t>(</a:t>
            </a:r>
            <a:r>
              <a:rPr lang="en-US" dirty="0"/>
              <a:t>Model </a:t>
            </a:r>
            <a:r>
              <a:rPr lang="en-US" dirty="0" smtClean="0"/>
              <a:t>1: </a:t>
            </a:r>
            <a:r>
              <a:rPr lang="en-US" dirty="0"/>
              <a:t>Logistic Regression (or SVM/Naive Bayes) trained on TF–IDF features</a:t>
            </a:r>
            <a:r>
              <a:rPr lang="en-US" dirty="0" smtClean="0"/>
              <a:t>.)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ROC curve and Precision-Recall curve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33" y="1711869"/>
            <a:ext cx="5280188" cy="45627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015" y="1003025"/>
            <a:ext cx="4475592" cy="285115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015" y="3854178"/>
            <a:ext cx="4475591" cy="284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4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182880"/>
            <a:ext cx="11092543" cy="6675120"/>
          </a:xfrm>
        </p:spPr>
        <p:txBody>
          <a:bodyPr/>
          <a:lstStyle/>
          <a:p>
            <a:r>
              <a:rPr lang="en-US" dirty="0" smtClean="0"/>
              <a:t>Analysis of 5 misclassified reviews (true vs predicted labels, text).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625273"/>
            <a:ext cx="6283233" cy="17782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623" y="2403566"/>
            <a:ext cx="8174759" cy="445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237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281"/>
          </a:xfrm>
        </p:spPr>
        <p:txBody>
          <a:bodyPr>
            <a:normAutofit/>
          </a:bodyPr>
          <a:lstStyle/>
          <a:p>
            <a:r>
              <a:rPr lang="fr-FR" dirty="0" smtClean="0"/>
              <a:t>Part B: Model 2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3406"/>
            <a:ext cx="10515600" cy="5734594"/>
          </a:xfrm>
        </p:spPr>
        <p:txBody>
          <a:bodyPr/>
          <a:lstStyle/>
          <a:p>
            <a:r>
              <a:rPr lang="en-US" dirty="0" smtClean="0"/>
              <a:t>Model: Deep sequence model (e.g., </a:t>
            </a:r>
            <a:r>
              <a:rPr lang="en-US" dirty="0" err="1" smtClean="0"/>
              <a:t>BiLSTM</a:t>
            </a:r>
            <a:r>
              <a:rPr lang="en-US" dirty="0" smtClean="0"/>
              <a:t>) on padded token sequences. (Deep Learning Sentiment Classifier)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Train/validation split, early stopping/</a:t>
            </a:r>
            <a:r>
              <a:rPr lang="en-US" dirty="0" err="1" smtClean="0"/>
              <a:t>regularisation</a:t>
            </a:r>
            <a:r>
              <a:rPr lang="en-US" dirty="0" smtClean="0"/>
              <a:t> as needed.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700" y="3149215"/>
            <a:ext cx="6865068" cy="319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4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5943"/>
            <a:ext cx="10515600" cy="598102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• Logged training and validation loss/accuracy per epoch.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517" y="976687"/>
            <a:ext cx="9794965" cy="531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239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218"/>
          </a:xfrm>
        </p:spPr>
        <p:txBody>
          <a:bodyPr>
            <a:normAutofit/>
          </a:bodyPr>
          <a:lstStyle/>
          <a:p>
            <a:r>
              <a:rPr lang="en-US" dirty="0" smtClean="0"/>
              <a:t>Evaluation metrics: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66" y="1110344"/>
            <a:ext cx="5627628" cy="522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0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069" y="117566"/>
            <a:ext cx="11665131" cy="6648994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Confusion Matrix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26" y="950074"/>
            <a:ext cx="6518563" cy="58164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720" y="0"/>
            <a:ext cx="3235387" cy="24296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9182" y="2455817"/>
            <a:ext cx="2990461" cy="2286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2585" y="4741817"/>
            <a:ext cx="2919522" cy="205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9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075" y="0"/>
            <a:ext cx="10515600" cy="679904"/>
          </a:xfrm>
        </p:spPr>
        <p:txBody>
          <a:bodyPr>
            <a:normAutofit/>
          </a:bodyPr>
          <a:lstStyle/>
          <a:p>
            <a:r>
              <a:rPr lang="en-US" b="1" dirty="0" smtClean="0"/>
              <a:t>The 5 misclassified examples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58" y="679904"/>
            <a:ext cx="9735673" cy="603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0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50" y="195308"/>
            <a:ext cx="11639004" cy="706029"/>
          </a:xfrm>
        </p:spPr>
        <p:txBody>
          <a:bodyPr>
            <a:normAutofit/>
          </a:bodyPr>
          <a:lstStyle/>
          <a:p>
            <a:r>
              <a:rPr lang="en-US" dirty="0" smtClean="0"/>
              <a:t>Part C: Reinforcement Learning Model Selector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045029"/>
            <a:ext cx="11456126" cy="5486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Objective: Learn a policy to choose between ML and DL model per review.</a:t>
            </a:r>
          </a:p>
          <a:p>
            <a:r>
              <a:rPr dirty="0"/>
              <a:t>State vector (per review):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• </a:t>
            </a:r>
            <a:r>
              <a:rPr dirty="0" err="1"/>
              <a:t>p_ml</a:t>
            </a:r>
            <a:r>
              <a:rPr dirty="0"/>
              <a:t>: ML probability of positive.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• </a:t>
            </a:r>
            <a:r>
              <a:rPr dirty="0" err="1"/>
              <a:t>p_dl</a:t>
            </a:r>
            <a:r>
              <a:rPr dirty="0"/>
              <a:t>: DL probability of positive</a:t>
            </a:r>
            <a:r>
              <a:rPr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 smtClean="0"/>
              <a:t>• </a:t>
            </a:r>
            <a:r>
              <a:rPr dirty="0"/>
              <a:t>Confidence difference |</a:t>
            </a:r>
            <a:r>
              <a:rPr dirty="0" err="1"/>
              <a:t>p_ml</a:t>
            </a:r>
            <a:r>
              <a:rPr dirty="0"/>
              <a:t> − </a:t>
            </a:r>
            <a:r>
              <a:rPr dirty="0" err="1"/>
              <a:t>p_dl</a:t>
            </a:r>
            <a:r>
              <a:rPr dirty="0"/>
              <a:t>|.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• </a:t>
            </a:r>
            <a:r>
              <a:rPr dirty="0"/>
              <a:t>Review length (token count), </a:t>
            </a:r>
            <a:r>
              <a:rPr dirty="0" smtClean="0"/>
              <a:t>normalized.</a:t>
            </a:r>
            <a:endParaRPr dirty="0"/>
          </a:p>
          <a:p>
            <a:r>
              <a:rPr dirty="0"/>
              <a:t>Actions: 0 = use ML prediction, 1 = use DL prediction.</a:t>
            </a:r>
          </a:p>
          <a:p>
            <a:r>
              <a:rPr dirty="0"/>
              <a:t>Reward: +10 for correct prediction, −5 for incorrect prediction.</a:t>
            </a:r>
          </a:p>
        </p:txBody>
      </p:sp>
    </p:spTree>
    <p:extLst>
      <p:ext uri="{BB962C8B-B14F-4D97-AF65-F5344CB8AC3E}">
        <p14:creationId xmlns:p14="http://schemas.microsoft.com/office/powerpoint/2010/main" val="566990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766" y="0"/>
            <a:ext cx="10515600" cy="1325563"/>
          </a:xfrm>
        </p:spPr>
        <p:txBody>
          <a:bodyPr/>
          <a:lstStyle/>
          <a:p>
            <a:r>
              <a:rPr lang="en-US" dirty="0" smtClean="0"/>
              <a:t>Q-Learning Setup and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331" y="1325563"/>
            <a:ext cx="10661469" cy="503604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Q-learning: discretized state space, tabular Q(</a:t>
            </a:r>
            <a:r>
              <a:rPr lang="en-US" dirty="0" err="1" smtClean="0"/>
              <a:t>s,a</a:t>
            </a:r>
            <a:r>
              <a:rPr lang="en-US" dirty="0" smtClean="0"/>
              <a:t>) for two actions.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l-GR" dirty="0" smtClean="0"/>
              <a:t>ε-</a:t>
            </a:r>
            <a:r>
              <a:rPr lang="en-US" dirty="0" smtClean="0"/>
              <a:t>greedy exploration</a:t>
            </a:r>
          </a:p>
          <a:p>
            <a:pPr marL="0" indent="0">
              <a:buNone/>
            </a:pPr>
            <a:r>
              <a:rPr lang="en-US" dirty="0" smtClean="0"/>
              <a:t>High ε at start for exploration, decayed over episodes for exploitation.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Training: ~1000 episodes over full review set.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Outputs: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Reward curve vs episode, showing learning and stabilization.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Final Q-table with learned value estimates.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Accuracy comparison: ML-only, DL-only, RL-selected.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86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344"/>
          </a:xfrm>
        </p:spPr>
        <p:txBody>
          <a:bodyPr/>
          <a:lstStyle/>
          <a:p>
            <a:r>
              <a:rPr lang="en-US" b="1" dirty="0" smtClean="0"/>
              <a:t>Outputs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70710"/>
            <a:ext cx="11353800" cy="6087290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Reward curve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5920"/>
            <a:ext cx="5515745" cy="52120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875" y="2614037"/>
            <a:ext cx="4871925" cy="29246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02583" y="2041913"/>
            <a:ext cx="39057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Q-table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73950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691" y="235131"/>
            <a:ext cx="11210109" cy="6426926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Comparison of accuracy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34" y="983106"/>
            <a:ext cx="6257109" cy="513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076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" y="365126"/>
            <a:ext cx="11262360" cy="784405"/>
          </a:xfrm>
        </p:spPr>
        <p:txBody>
          <a:bodyPr>
            <a:normAutofit/>
          </a:bodyPr>
          <a:lstStyle/>
          <a:p>
            <a:r>
              <a:rPr lang="en-US" dirty="0" smtClean="0"/>
              <a:t>Part D: Interpretation – When RL Chooses ML vs DL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1031966"/>
            <a:ext cx="11782697" cy="570846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Q1 – RL Model Selector: Behavior and Insights</a:t>
            </a:r>
            <a:endParaRPr lang="en-US" dirty="0" smtClean="0"/>
          </a:p>
          <a:p>
            <a:r>
              <a:rPr lang="en-US" b="1" dirty="0" smtClean="0"/>
              <a:t>Behavior of the learned policy</a:t>
            </a:r>
            <a:endParaRPr lang="en-US" dirty="0" smtClean="0"/>
          </a:p>
          <a:p>
            <a:pPr lvl="1"/>
            <a:r>
              <a:rPr lang="en-US" dirty="0" smtClean="0"/>
              <a:t>Chooses the </a:t>
            </a:r>
            <a:r>
              <a:rPr lang="en-US" b="1" dirty="0" smtClean="0"/>
              <a:t>deep learning model</a:t>
            </a:r>
            <a:r>
              <a:rPr lang="en-US" dirty="0" smtClean="0"/>
              <a:t> when it has a strong confidence advantage, especially on </a:t>
            </a:r>
            <a:r>
              <a:rPr lang="en-US" b="1" dirty="0" smtClean="0"/>
              <a:t>longer / more complex reviews</a:t>
            </a:r>
            <a:r>
              <a:rPr lang="en-US" dirty="0" smtClean="0"/>
              <a:t> where sequence modelling helps.</a:t>
            </a:r>
          </a:p>
          <a:p>
            <a:pPr lvl="1"/>
            <a:r>
              <a:rPr lang="en-US" dirty="0" smtClean="0"/>
              <a:t>Chooses the </a:t>
            </a:r>
            <a:r>
              <a:rPr lang="en-US" b="1" dirty="0" smtClean="0"/>
              <a:t>classical TF–IDF model</a:t>
            </a:r>
            <a:r>
              <a:rPr lang="en-US" dirty="0" smtClean="0"/>
              <a:t> when both models agree or when the classical model is clearly more confident on </a:t>
            </a:r>
            <a:r>
              <a:rPr lang="en-US" b="1" dirty="0" smtClean="0"/>
              <a:t>shorter, simpler reviews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This shows that the RL agent has learned a </a:t>
            </a:r>
            <a:r>
              <a:rPr lang="en-US" b="1" dirty="0" smtClean="0"/>
              <a:t>meaningful switching rule</a:t>
            </a:r>
            <a:r>
              <a:rPr lang="en-US" dirty="0" smtClean="0"/>
              <a:t> that exploits the strengths of both classifiers.</a:t>
            </a:r>
          </a:p>
          <a:p>
            <a:r>
              <a:rPr lang="en-US" b="1" dirty="0" smtClean="0"/>
              <a:t>Performance and limitations</a:t>
            </a:r>
            <a:endParaRPr lang="en-US" dirty="0" smtClean="0"/>
          </a:p>
          <a:p>
            <a:pPr lvl="1"/>
            <a:r>
              <a:rPr lang="en-US" dirty="0" smtClean="0"/>
              <a:t>Test accuracies:</a:t>
            </a:r>
          </a:p>
          <a:p>
            <a:pPr lvl="2"/>
            <a:r>
              <a:rPr lang="en-US" dirty="0" smtClean="0"/>
              <a:t>Classical ML: </a:t>
            </a:r>
            <a:r>
              <a:rPr lang="en-US" b="1" dirty="0" smtClean="0"/>
              <a:t>[</a:t>
            </a:r>
            <a:r>
              <a:rPr lang="en-US" b="1" dirty="0" err="1" smtClean="0"/>
              <a:t>ML_accuracy</a:t>
            </a:r>
            <a:r>
              <a:rPr lang="en-US" b="1" dirty="0" smtClean="0"/>
              <a:t>: 08925]%</a:t>
            </a:r>
            <a:endParaRPr lang="en-US" dirty="0" smtClean="0"/>
          </a:p>
          <a:p>
            <a:pPr lvl="2"/>
            <a:r>
              <a:rPr lang="en-US" dirty="0" smtClean="0"/>
              <a:t>LSTM: </a:t>
            </a:r>
            <a:r>
              <a:rPr lang="en-US" b="1" dirty="0" smtClean="0"/>
              <a:t>[</a:t>
            </a:r>
            <a:r>
              <a:rPr lang="en-US" b="1" dirty="0" err="1" smtClean="0"/>
              <a:t>DL_accuracy</a:t>
            </a:r>
            <a:r>
              <a:rPr lang="en-US" b="1" dirty="0" smtClean="0"/>
              <a:t>: 08537]%</a:t>
            </a:r>
            <a:endParaRPr lang="en-US" dirty="0" smtClean="0"/>
          </a:p>
          <a:p>
            <a:pPr lvl="2"/>
            <a:r>
              <a:rPr lang="en-US" dirty="0" smtClean="0"/>
              <a:t>RL selector: </a:t>
            </a:r>
            <a:r>
              <a:rPr lang="en-US" b="1" dirty="0" smtClean="0"/>
              <a:t>[</a:t>
            </a:r>
            <a:r>
              <a:rPr lang="en-US" b="1" dirty="0" err="1" smtClean="0"/>
              <a:t>RL_accuracy</a:t>
            </a:r>
            <a:r>
              <a:rPr lang="en-US" b="1" dirty="0" smtClean="0"/>
              <a:t>: 0.9010]%</a:t>
            </a:r>
            <a:endParaRPr lang="en-US" dirty="0" smtClean="0"/>
          </a:p>
          <a:p>
            <a:pPr lvl="1"/>
            <a:r>
              <a:rPr lang="en-US" dirty="0" smtClean="0"/>
              <a:t>If RL &gt; both, it forms a </a:t>
            </a:r>
            <a:r>
              <a:rPr lang="en-US" b="1" dirty="0" smtClean="0"/>
              <a:t>strictly better hybrid system</a:t>
            </a:r>
            <a:r>
              <a:rPr lang="en-US" dirty="0" smtClean="0"/>
              <a:t>; if in between, it still </a:t>
            </a:r>
            <a:r>
              <a:rPr lang="en-US" b="1" dirty="0" smtClean="0"/>
              <a:t>adapts</a:t>
            </a:r>
            <a:r>
              <a:rPr lang="en-US" dirty="0" smtClean="0"/>
              <a:t> by trusting the stronger model more often.</a:t>
            </a:r>
          </a:p>
          <a:p>
            <a:pPr lvl="1"/>
            <a:r>
              <a:rPr lang="en-US" dirty="0" smtClean="0"/>
              <a:t>Misclassifications remain hardest for </a:t>
            </a:r>
            <a:r>
              <a:rPr lang="en-US" b="1" dirty="0" smtClean="0"/>
              <a:t>ambiguous / mixed sentiment</a:t>
            </a:r>
            <a:r>
              <a:rPr lang="en-US" dirty="0" smtClean="0"/>
              <a:t>, </a:t>
            </a:r>
            <a:r>
              <a:rPr lang="en-US" b="1" dirty="0" smtClean="0"/>
              <a:t>sarcasm</a:t>
            </a:r>
            <a:r>
              <a:rPr lang="en-US" dirty="0" smtClean="0"/>
              <a:t>, and </a:t>
            </a:r>
            <a:r>
              <a:rPr lang="en-US" b="1" dirty="0" smtClean="0"/>
              <a:t>very short reviews</a:t>
            </a:r>
            <a:r>
              <a:rPr lang="en-US" dirty="0" smtClean="0"/>
              <a:t> with little context.</a:t>
            </a:r>
          </a:p>
          <a:p>
            <a:r>
              <a:rPr lang="en-US" b="1" dirty="0" smtClean="0"/>
              <a:t>Possible improvement</a:t>
            </a:r>
            <a:endParaRPr lang="en-US" dirty="0" smtClean="0"/>
          </a:p>
          <a:p>
            <a:pPr lvl="1"/>
            <a:r>
              <a:rPr lang="en-US" dirty="0" smtClean="0"/>
              <a:t>Replace tabular Q-learning with a </a:t>
            </a:r>
            <a:r>
              <a:rPr lang="en-US" b="1" dirty="0" smtClean="0"/>
              <a:t>Deep Q-Network (DQN)</a:t>
            </a:r>
            <a:r>
              <a:rPr lang="en-US" dirty="0" smtClean="0"/>
              <a:t> that uses continuous state features directly.</a:t>
            </a:r>
          </a:p>
          <a:p>
            <a:pPr lvl="1"/>
            <a:r>
              <a:rPr lang="en-US" dirty="0" smtClean="0"/>
              <a:t>Enrich the state with </a:t>
            </a:r>
            <a:r>
              <a:rPr lang="en-US" b="1" dirty="0" smtClean="0"/>
              <a:t>lexicon-based scores</a:t>
            </a:r>
            <a:r>
              <a:rPr lang="en-US" dirty="0" smtClean="0"/>
              <a:t> or </a:t>
            </a:r>
            <a:r>
              <a:rPr lang="en-US" b="1" dirty="0" smtClean="0"/>
              <a:t>neural </a:t>
            </a:r>
            <a:r>
              <a:rPr lang="en-US" b="1" dirty="0" err="1" smtClean="0"/>
              <a:t>embeddings</a:t>
            </a:r>
            <a:r>
              <a:rPr lang="en-US" dirty="0" smtClean="0"/>
              <a:t> to learn more precise decision boundaries.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88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691" y="152400"/>
            <a:ext cx="9733763" cy="1320800"/>
          </a:xfrm>
        </p:spPr>
        <p:txBody>
          <a:bodyPr>
            <a:normAutofit/>
          </a:bodyPr>
          <a:lstStyle/>
          <a:p>
            <a:r>
              <a:rPr lang="en-US" dirty="0" smtClean="0"/>
              <a:t>Question_2: Retail Customer Behavior and Marketing Insights -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691" y="1825624"/>
            <a:ext cx="11952515" cy="50323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Dataset: Online Retail II (UK-based transactional data: invoices, products, quantities, prices, customers).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 smtClean="0"/>
              <a:t>Objectives:</a:t>
            </a:r>
          </a:p>
          <a:p>
            <a:pPr marL="0" indent="0">
              <a:buNone/>
            </a:pPr>
            <a:r>
              <a:rPr lang="en-US" sz="2000" dirty="0" smtClean="0"/>
              <a:t>• To clean transaction data and build customer-level features.</a:t>
            </a:r>
          </a:p>
          <a:p>
            <a:pPr marL="0" indent="0">
              <a:buNone/>
            </a:pPr>
            <a:r>
              <a:rPr lang="en-US" sz="2000" dirty="0" smtClean="0"/>
              <a:t>• To cluster customers using k-Means and a second method (DBSCAN/Hierarchical).</a:t>
            </a:r>
          </a:p>
          <a:p>
            <a:pPr marL="0" indent="0">
              <a:buNone/>
            </a:pPr>
            <a:r>
              <a:rPr lang="en-US" sz="2000" dirty="0" smtClean="0"/>
              <a:t>• Learn deep </a:t>
            </a:r>
            <a:r>
              <a:rPr lang="en-US" sz="2000" dirty="0" err="1" smtClean="0"/>
              <a:t>embeddings</a:t>
            </a:r>
            <a:r>
              <a:rPr lang="en-US" sz="2000" dirty="0" smtClean="0"/>
              <a:t> (autoencoder) and cluster in latent space.</a:t>
            </a:r>
          </a:p>
          <a:p>
            <a:pPr marL="0" indent="0">
              <a:buNone/>
            </a:pPr>
            <a:r>
              <a:rPr lang="en-US" sz="2000" dirty="0" smtClean="0"/>
              <a:t>• Perform association rule mining for product co-purchases.</a:t>
            </a:r>
          </a:p>
          <a:p>
            <a:pPr marL="0" indent="0">
              <a:buNone/>
            </a:pPr>
            <a:r>
              <a:rPr lang="en-US" sz="2000" dirty="0" smtClean="0"/>
              <a:t>• Translate findings into actionable marketing recommendations.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45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Implemented with </a:t>
            </a:r>
            <a:r>
              <a:rPr lang="en-US" dirty="0" err="1" smtClean="0"/>
              <a:t>vscode</a:t>
            </a:r>
            <a:r>
              <a:rPr lang="en-US" dirty="0" smtClean="0"/>
              <a:t> and Jupiter notebooks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The project has 1 notebook (having all sections A-D)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Project Folder (RETAIL_CUSTOMER_INSIGHTS) – Contains the notebooks, report and all the relevant files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Project Repository: </a:t>
            </a:r>
            <a:r>
              <a:rPr lang="en-US" dirty="0" smtClean="0">
                <a:hlinkClick r:id="rId2"/>
              </a:rPr>
              <a:t>https://github.com/musiben84/Exam_Question_2.git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908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83" y="129995"/>
            <a:ext cx="11066417" cy="784406"/>
          </a:xfrm>
        </p:spPr>
        <p:txBody>
          <a:bodyPr/>
          <a:lstStyle/>
          <a:p>
            <a:r>
              <a:rPr lang="en-US" dirty="0" smtClean="0"/>
              <a:t>Part A: Data Cleaning and Customer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49" y="1071154"/>
            <a:ext cx="10948851" cy="54472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Data cleaning steps:</a:t>
            </a:r>
          </a:p>
          <a:p>
            <a:pPr marL="0" indent="0">
              <a:buNone/>
            </a:pPr>
            <a:r>
              <a:rPr lang="en-US" dirty="0" smtClean="0"/>
              <a:t>	• Removed missing product descriptions.</a:t>
            </a:r>
          </a:p>
          <a:p>
            <a:pPr marL="0" indent="0">
              <a:buNone/>
            </a:pPr>
            <a:r>
              <a:rPr lang="en-US" dirty="0" smtClean="0"/>
              <a:t>	• Excluded negative quantities and cancelled invoices.</a:t>
            </a:r>
          </a:p>
          <a:p>
            <a:pPr marL="0" indent="0">
              <a:buNone/>
            </a:pPr>
            <a:r>
              <a:rPr lang="en-US" dirty="0" smtClean="0"/>
              <a:t>	• Dropped transactions without </a:t>
            </a:r>
            <a:r>
              <a:rPr lang="en-US" dirty="0" err="1" smtClean="0"/>
              <a:t>CustomerID</a:t>
            </a:r>
            <a:r>
              <a:rPr lang="en-US" dirty="0" smtClean="0"/>
              <a:t> and optionally focused 	on UK customers.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Customer-level features (aggregated per </a:t>
            </a:r>
            <a:r>
              <a:rPr lang="en-US" dirty="0" err="1" smtClean="0"/>
              <a:t>CustomerID</a:t>
            </a:r>
            <a:r>
              <a:rPr lang="en-US" dirty="0" smtClean="0"/>
              <a:t>):</a:t>
            </a:r>
          </a:p>
          <a:p>
            <a:pPr marL="0" indent="0">
              <a:buNone/>
            </a:pPr>
            <a:r>
              <a:rPr lang="en-US" dirty="0" smtClean="0"/>
              <a:t>	• Total spending (Quantity × </a:t>
            </a:r>
            <a:r>
              <a:rPr lang="en-US" dirty="0" err="1" smtClean="0"/>
              <a:t>UnitPrice</a:t>
            </a:r>
            <a:r>
              <a:rPr lang="en-US" dirty="0" smtClean="0"/>
              <a:t>), number of invoices, total 	quantity.</a:t>
            </a:r>
          </a:p>
          <a:p>
            <a:pPr marL="0" indent="0">
              <a:buNone/>
            </a:pPr>
            <a:r>
              <a:rPr lang="en-US" dirty="0" smtClean="0"/>
              <a:t>	• Average basket size and average order value.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Clustering: k-Means and DBSCAN/Hierarchical on scaled features; silhouette scores computed.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50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79269"/>
          </a:xfrm>
        </p:spPr>
        <p:txBody>
          <a:bodyPr>
            <a:normAutofit/>
          </a:bodyPr>
          <a:lstStyle/>
          <a:p>
            <a:r>
              <a:rPr lang="en-US" b="1" dirty="0" smtClean="0"/>
              <a:t>Data cleaning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030" y="679269"/>
            <a:ext cx="6084838" cy="47339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464" y="1726748"/>
            <a:ext cx="3138119" cy="2639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190" y="5273195"/>
            <a:ext cx="7401958" cy="158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52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3508"/>
            <a:ext cx="11353800" cy="62701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Customer level features: </a:t>
            </a:r>
            <a:r>
              <a:rPr lang="en-US" sz="2200" dirty="0" smtClean="0"/>
              <a:t>Aggregates </a:t>
            </a:r>
            <a:r>
              <a:rPr lang="en-US" sz="2200" dirty="0"/>
              <a:t>transactions per customer to compute spending, invoice counts, quantities, basket size, and average order value.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4046" y="1227909"/>
            <a:ext cx="8118492" cy="563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2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577" y="182245"/>
            <a:ext cx="10818222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K-means clustering with computed silhouette scores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0676" y="1660191"/>
            <a:ext cx="6470645" cy="453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2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Visualization with PCA/t-SNE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471" y="1543915"/>
            <a:ext cx="5042683" cy="40208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991" y="1474782"/>
            <a:ext cx="6335009" cy="452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86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Part B: Deep Embedding Clustering with Autoencoder (Chose Autoencoder)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Built an autoencoder on standardized customer features:</a:t>
            </a:r>
          </a:p>
          <a:p>
            <a:pPr marL="0" indent="0">
              <a:buNone/>
            </a:pPr>
            <a:r>
              <a:rPr lang="en-US" dirty="0" smtClean="0"/>
              <a:t>	• Encoder compresses features to low-dimensional latent code.</a:t>
            </a:r>
          </a:p>
          <a:p>
            <a:pPr marL="0" indent="0">
              <a:buNone/>
            </a:pPr>
            <a:r>
              <a:rPr lang="en-US" dirty="0" smtClean="0"/>
              <a:t>	• Decoder reconstructs original features from latent code.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Trained autoencoder to minimize reconstruction error.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Encoded customers into latent </a:t>
            </a:r>
            <a:r>
              <a:rPr lang="en-US" dirty="0" err="1" smtClean="0"/>
              <a:t>embeddings</a:t>
            </a:r>
            <a:r>
              <a:rPr lang="en-US" dirty="0" smtClean="0"/>
              <a:t>; applied k-Means to latent space.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Visualized latent </a:t>
            </a:r>
            <a:r>
              <a:rPr lang="en-US" dirty="0" err="1" smtClean="0"/>
              <a:t>embeddings</a:t>
            </a:r>
            <a:r>
              <a:rPr lang="en-US" dirty="0" smtClean="0"/>
              <a:t> in 2D with clusters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Compared silhouette scores: autoencoder clusters vs PCA-based clusters.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03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273" y="365125"/>
            <a:ext cx="10856527" cy="10326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Building the Autoencorder to minimize reconstruction error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273" y="2044127"/>
            <a:ext cx="5185069" cy="34030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165" y="1919730"/>
            <a:ext cx="5144509" cy="363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2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</p:spPr>
        <p:txBody>
          <a:bodyPr/>
          <a:lstStyle/>
          <a:p>
            <a:r>
              <a:rPr lang="en-US" dirty="0" smtClean="0"/>
              <a:t>Visualized latent </a:t>
            </a:r>
            <a:r>
              <a:rPr lang="en-US" dirty="0" err="1" smtClean="0"/>
              <a:t>embeddings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125" y="1690688"/>
            <a:ext cx="5760486" cy="48799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933" y="1991990"/>
            <a:ext cx="5464581" cy="434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4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1972"/>
          </a:xfrm>
        </p:spPr>
        <p:txBody>
          <a:bodyPr>
            <a:normAutofit/>
          </a:bodyPr>
          <a:lstStyle/>
          <a:p>
            <a:r>
              <a:rPr lang="en-US" b="1" dirty="0" smtClean="0"/>
              <a:t>Comparing PCA and Autoencoder Clusters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29" y="1371600"/>
            <a:ext cx="11223171" cy="4805363"/>
          </a:xfrm>
        </p:spPr>
        <p:txBody>
          <a:bodyPr>
            <a:normAutofit/>
          </a:bodyPr>
          <a:lstStyle/>
          <a:p>
            <a:r>
              <a:rPr lang="en-US" b="1" dirty="0" smtClean="0"/>
              <a:t>Cluster quality comparison</a:t>
            </a:r>
            <a:endParaRPr lang="en-US" dirty="0" smtClean="0"/>
          </a:p>
          <a:p>
            <a:pPr lvl="1"/>
            <a:r>
              <a:rPr lang="en-US" dirty="0" smtClean="0"/>
              <a:t>Compared </a:t>
            </a:r>
            <a:r>
              <a:rPr lang="en-US" b="1" dirty="0" smtClean="0"/>
              <a:t>PCA-based clusters</a:t>
            </a:r>
            <a:r>
              <a:rPr lang="en-US" dirty="0" smtClean="0"/>
              <a:t> and </a:t>
            </a:r>
            <a:r>
              <a:rPr lang="en-US" b="1" dirty="0" smtClean="0"/>
              <a:t>autoencoder-based clusters</a:t>
            </a:r>
            <a:r>
              <a:rPr lang="en-US" dirty="0" smtClean="0"/>
              <a:t> using:</a:t>
            </a:r>
          </a:p>
          <a:p>
            <a:pPr lvl="2"/>
            <a:r>
              <a:rPr lang="en-US" b="1" dirty="0" smtClean="0"/>
              <a:t>Silhouette scores</a:t>
            </a:r>
            <a:r>
              <a:rPr lang="en-US" dirty="0" smtClean="0"/>
              <a:t> (numerical cluster quality).</a:t>
            </a:r>
          </a:p>
          <a:p>
            <a:pPr lvl="2"/>
            <a:r>
              <a:rPr lang="en-US" b="1" dirty="0" smtClean="0"/>
              <a:t>Visual separation</a:t>
            </a:r>
            <a:r>
              <a:rPr lang="en-US" dirty="0" smtClean="0"/>
              <a:t> in 2D plots.</a:t>
            </a:r>
          </a:p>
          <a:p>
            <a:r>
              <a:rPr lang="en-US" b="1" dirty="0" smtClean="0"/>
              <a:t>Findings</a:t>
            </a:r>
            <a:endParaRPr lang="en-US" dirty="0" smtClean="0"/>
          </a:p>
          <a:p>
            <a:pPr lvl="1"/>
            <a:r>
              <a:rPr lang="en-US" dirty="0" smtClean="0"/>
              <a:t>Autoencoder-based clusters often show:</a:t>
            </a:r>
          </a:p>
          <a:p>
            <a:pPr lvl="2"/>
            <a:r>
              <a:rPr lang="en-US" b="1" dirty="0" smtClean="0"/>
              <a:t>Stronger separation</a:t>
            </a:r>
            <a:r>
              <a:rPr lang="en-US" dirty="0" smtClean="0"/>
              <a:t> between groups.</a:t>
            </a:r>
          </a:p>
          <a:p>
            <a:pPr lvl="2"/>
            <a:r>
              <a:rPr lang="en-US" dirty="0" smtClean="0"/>
              <a:t>More </a:t>
            </a:r>
            <a:r>
              <a:rPr lang="en-US" b="1" dirty="0" smtClean="0"/>
              <a:t>coherent and compact</a:t>
            </a:r>
            <a:r>
              <a:rPr lang="en-US" dirty="0" smtClean="0"/>
              <a:t> clusters.</a:t>
            </a:r>
          </a:p>
          <a:p>
            <a:pPr lvl="1"/>
            <a:r>
              <a:rPr lang="en-US" dirty="0" smtClean="0"/>
              <a:t>Suggests the deep model captures </a:t>
            </a:r>
            <a:r>
              <a:rPr lang="en-US" b="1" dirty="0" smtClean="0"/>
              <a:t>behavioral nuances</a:t>
            </a:r>
            <a:r>
              <a:rPr lang="en-US" dirty="0" smtClean="0"/>
              <a:t> that linear PCA cannot.</a:t>
            </a:r>
          </a:p>
          <a:p>
            <a:r>
              <a:rPr lang="en-US" b="1" dirty="0" smtClean="0"/>
              <a:t>Implication</a:t>
            </a:r>
            <a:endParaRPr lang="en-US" dirty="0" smtClean="0"/>
          </a:p>
          <a:p>
            <a:pPr lvl="1"/>
            <a:r>
              <a:rPr lang="en-US" dirty="0" smtClean="0"/>
              <a:t>Deep </a:t>
            </a:r>
            <a:r>
              <a:rPr lang="en-US" dirty="0" err="1" smtClean="0"/>
              <a:t>embeddings</a:t>
            </a:r>
            <a:r>
              <a:rPr lang="en-US" dirty="0" smtClean="0"/>
              <a:t> provide a </a:t>
            </a:r>
            <a:r>
              <a:rPr lang="en-US" b="1" dirty="0" smtClean="0"/>
              <a:t>richer customer representation</a:t>
            </a:r>
            <a:r>
              <a:rPr lang="en-US" dirty="0" smtClean="0"/>
              <a:t>, leading to more meaningful segments for marketing and targeting.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080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088" y="0"/>
            <a:ext cx="8596668" cy="500743"/>
          </a:xfrm>
        </p:spPr>
        <p:txBody>
          <a:bodyPr>
            <a:normAutofit fontScale="90000"/>
          </a:bodyPr>
          <a:lstStyle/>
          <a:p>
            <a:r>
              <a:rPr lang="en-US" dirty="0"/>
              <a:t>Part C: Association Rule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744583"/>
            <a:ext cx="10426095" cy="620485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Transformed transactions to basket format: Invoice → list of product descriptions.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59" y="1481008"/>
            <a:ext cx="6208001" cy="43972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943" y="3130858"/>
            <a:ext cx="7249887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744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39337"/>
            <a:ext cx="8596668" cy="4876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Part C: Cont’d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509" y="796835"/>
            <a:ext cx="9953897" cy="5244528"/>
          </a:xfrm>
        </p:spPr>
        <p:txBody>
          <a:bodyPr/>
          <a:lstStyle/>
          <a:p>
            <a:r>
              <a:rPr lang="en-US" dirty="0"/>
              <a:t>Applied </a:t>
            </a:r>
            <a:r>
              <a:rPr lang="en-US" dirty="0" err="1"/>
              <a:t>Apriori</a:t>
            </a:r>
            <a:r>
              <a:rPr lang="en-US" dirty="0"/>
              <a:t> or </a:t>
            </a:r>
            <a:r>
              <a:rPr lang="en-US" dirty="0" smtClean="0"/>
              <a:t>FP-Growth </a:t>
            </a:r>
            <a:r>
              <a:rPr lang="en-US" dirty="0"/>
              <a:t>to extract frequent item sets.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033" y="1402631"/>
            <a:ext cx="6243956" cy="52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61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768" y="100148"/>
            <a:ext cx="8596668" cy="55299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Part C: Cont’d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653142"/>
            <a:ext cx="8596668" cy="51990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Selected top 10 rules sorted by lift as strongest co-purchase patterns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6" y="1206136"/>
            <a:ext cx="11861075" cy="544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6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00148"/>
            <a:ext cx="8596668" cy="60524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Interpretation of </a:t>
            </a:r>
            <a:r>
              <a:rPr lang="en-US" b="1" dirty="0" smtClean="0"/>
              <a:t>3 Association </a:t>
            </a:r>
            <a:r>
              <a:rPr lang="en-US" b="1" dirty="0"/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705394"/>
            <a:ext cx="12009119" cy="6152605"/>
          </a:xfrm>
        </p:spPr>
        <p:txBody>
          <a:bodyPr/>
          <a:lstStyle/>
          <a:p>
            <a:r>
              <a:rPr lang="en-US" dirty="0"/>
              <a:t>Three of the strongest association rules highlight meaningful co-purchase patterns that can guide merchandising and cross-selling strategies:</a:t>
            </a:r>
          </a:p>
          <a:p>
            <a:pPr lvl="0"/>
            <a:r>
              <a:rPr lang="en-US" sz="2000" b="1" dirty="0"/>
              <a:t>Rule 1: {Item A, Item B} → {Item C}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Customers who buy Items A and B together frequently also purchase Item C. This indicates a natural bundle or complementary set. The retailer could present Item C as a “Frequently Bought Together” suggestion when Items A and B appear in a customer’s basket.</a:t>
            </a:r>
          </a:p>
          <a:p>
            <a:pPr lvl="0"/>
            <a:r>
              <a:rPr lang="en-US" sz="2000" b="1" dirty="0"/>
              <a:t>Rule 2: {Item D} → {Item E}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Purchases of Item D strongly predict purchases of Item E, suggesting that E may function as an accessory, refill, or complementary add-on. Highlighting Item E on Item D’s product page or offering a small bundle discount can increase conversion rates.</a:t>
            </a:r>
          </a:p>
          <a:p>
            <a:pPr lvl="0"/>
            <a:r>
              <a:rPr lang="en-US" sz="2000" b="1" dirty="0"/>
              <a:t>Rule 3: {Item F, Item G} → {Item H}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frequent co-occurrence of Items F and G with Item H implies a thematic set—such as party supplies, holiday items, or gift-related products. Curated collections or grouped displays can simplify navigation and encourage customers to purchase the full set, increasing basket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03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691" y="217715"/>
            <a:ext cx="9130311" cy="110163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Part D: Interpretation and Business Recommendations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691" y="1319349"/>
            <a:ext cx="11599818" cy="553865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Customer segments</a:t>
            </a:r>
            <a:endParaRPr lang="en-US" dirty="0"/>
          </a:p>
          <a:p>
            <a:pPr lvl="1"/>
            <a:r>
              <a:rPr lang="en-US" dirty="0"/>
              <a:t>High-value loyal customers: frequent, high spend → </a:t>
            </a:r>
            <a:r>
              <a:rPr lang="en-US" dirty="0" smtClean="0"/>
              <a:t>prioritize </a:t>
            </a:r>
            <a:r>
              <a:rPr lang="en-US" dirty="0"/>
              <a:t>with </a:t>
            </a:r>
            <a:r>
              <a:rPr lang="en-US" b="1" dirty="0"/>
              <a:t>loyalty/VIP </a:t>
            </a:r>
            <a:r>
              <a:rPr lang="en-US" b="1" dirty="0" err="1"/>
              <a:t>programmes</a:t>
            </a:r>
            <a:r>
              <a:rPr lang="en-US" b="1" dirty="0"/>
              <a:t> and exclusive perks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Occasional large-basket shoppers: infrequent but big orders → target with </a:t>
            </a:r>
            <a:r>
              <a:rPr lang="en-US" b="1" dirty="0"/>
              <a:t>seasonal reminders and time-limited promotions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Low-value/infrequent customers: low revenue → opportunity for </a:t>
            </a:r>
            <a:r>
              <a:rPr lang="en-US" b="1" dirty="0"/>
              <a:t>growth via </a:t>
            </a:r>
            <a:r>
              <a:rPr lang="en-US" b="1" dirty="0" smtClean="0"/>
              <a:t>personalized </a:t>
            </a:r>
            <a:r>
              <a:rPr lang="en-US" b="1" dirty="0"/>
              <a:t>recommendations and reactivation campaigns</a:t>
            </a:r>
            <a:r>
              <a:rPr lang="en-US" dirty="0"/>
              <a:t>.</a:t>
            </a:r>
          </a:p>
          <a:p>
            <a:r>
              <a:rPr lang="en-US" b="1" dirty="0"/>
              <a:t>Clustering quality</a:t>
            </a:r>
            <a:endParaRPr lang="en-US" dirty="0"/>
          </a:p>
          <a:p>
            <a:pPr lvl="1"/>
            <a:r>
              <a:rPr lang="en-US" b="1" dirty="0"/>
              <a:t>PCA clusters</a:t>
            </a:r>
            <a:r>
              <a:rPr lang="en-US" dirty="0"/>
              <a:t> capture mainly linear patterns.</a:t>
            </a:r>
          </a:p>
          <a:p>
            <a:pPr lvl="1"/>
            <a:r>
              <a:rPr lang="en-US" b="1" dirty="0" err="1"/>
              <a:t>Autoencoder</a:t>
            </a:r>
            <a:r>
              <a:rPr lang="en-US" b="1" dirty="0"/>
              <a:t> clusters</a:t>
            </a:r>
            <a:r>
              <a:rPr lang="en-US" dirty="0"/>
              <a:t> are often more compact and well-separated, capturing </a:t>
            </a:r>
            <a:r>
              <a:rPr lang="en-US" b="1" dirty="0"/>
              <a:t>nonlinear </a:t>
            </a:r>
            <a:r>
              <a:rPr lang="en-US" b="1" dirty="0" smtClean="0"/>
              <a:t>behaviors</a:t>
            </a:r>
            <a:r>
              <a:rPr lang="en-US" dirty="0" smtClean="0"/>
              <a:t> </a:t>
            </a:r>
            <a:r>
              <a:rPr lang="en-US" dirty="0"/>
              <a:t>(e.g., purchase mix, frequent small vs infrequent large orders).</a:t>
            </a:r>
          </a:p>
          <a:p>
            <a:pPr lvl="1"/>
            <a:r>
              <a:rPr lang="en-US" dirty="0"/>
              <a:t>Higher silhouette scores for </a:t>
            </a:r>
            <a:r>
              <a:rPr lang="en-US" dirty="0" err="1"/>
              <a:t>autoencoder</a:t>
            </a:r>
            <a:r>
              <a:rPr lang="en-US" dirty="0"/>
              <a:t> clusters indicate </a:t>
            </a:r>
            <a:r>
              <a:rPr lang="en-US" b="1" dirty="0"/>
              <a:t>more meaningful segments</a:t>
            </a:r>
            <a:r>
              <a:rPr lang="en-US" dirty="0"/>
              <a:t> for marketing.</a:t>
            </a:r>
          </a:p>
          <a:p>
            <a:r>
              <a:rPr lang="en-US" b="1" dirty="0"/>
              <a:t>Association rules &amp; actions</a:t>
            </a:r>
            <a:endParaRPr lang="en-US" dirty="0"/>
          </a:p>
          <a:p>
            <a:pPr lvl="1"/>
            <a:r>
              <a:rPr lang="en-US" dirty="0"/>
              <a:t>Strong product co-purchase rules support </a:t>
            </a:r>
            <a:r>
              <a:rPr lang="en-US" b="1" dirty="0"/>
              <a:t>cross-selling</a:t>
            </a:r>
            <a:r>
              <a:rPr lang="en-US" dirty="0"/>
              <a:t> and </a:t>
            </a:r>
            <a:r>
              <a:rPr lang="en-US" b="1" dirty="0"/>
              <a:t>bundle creation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Combining segments + rules enables </a:t>
            </a:r>
            <a:r>
              <a:rPr lang="en-US" b="1" dirty="0"/>
              <a:t>highly targeted </a:t>
            </a:r>
            <a:r>
              <a:rPr lang="en-US" b="1" dirty="0" smtClean="0"/>
              <a:t>promotions</a:t>
            </a:r>
            <a:r>
              <a:rPr lang="en-US" dirty="0" smtClean="0"/>
              <a:t>.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r>
              <a:rPr lang="en-US" b="1" dirty="0" smtClean="0"/>
              <a:t>Recommended </a:t>
            </a:r>
            <a:r>
              <a:rPr lang="en-US" b="1" dirty="0"/>
              <a:t>actions:</a:t>
            </a:r>
          </a:p>
          <a:p>
            <a:pPr lvl="2"/>
            <a:r>
              <a:rPr lang="en-US" dirty="0"/>
              <a:t>Launch loyalty/VIP </a:t>
            </a:r>
            <a:r>
              <a:rPr lang="en-US" dirty="0" err="1"/>
              <a:t>programme</a:t>
            </a:r>
            <a:r>
              <a:rPr lang="en-US" dirty="0"/>
              <a:t> for high-value customers.</a:t>
            </a:r>
          </a:p>
          <a:p>
            <a:pPr lvl="2"/>
            <a:r>
              <a:rPr lang="en-US" dirty="0"/>
              <a:t>Use rules for cross-sell recommendations and bundles.</a:t>
            </a:r>
          </a:p>
          <a:p>
            <a:pPr lvl="2"/>
            <a:r>
              <a:rPr lang="en-US" dirty="0"/>
              <a:t>Run re-engagement campaigns for low-value customers using insights from clusters and purchasing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023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298</TotalTime>
  <Words>1225</Words>
  <Application>Microsoft Office PowerPoint</Application>
  <PresentationFormat>Widescreen</PresentationFormat>
  <Paragraphs>178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Trebuchet MS</vt:lpstr>
      <vt:lpstr>Wingdings</vt:lpstr>
      <vt:lpstr>Wingdings 3</vt:lpstr>
      <vt:lpstr>Facet</vt:lpstr>
      <vt:lpstr>PowerPoint Presentation</vt:lpstr>
      <vt:lpstr>Choice of questions</vt:lpstr>
      <vt:lpstr>Question 1</vt:lpstr>
      <vt:lpstr>Part A: Part A: NLP preprocessing and feature engineering</vt:lpstr>
      <vt:lpstr>Part A – Cont’d</vt:lpstr>
      <vt:lpstr>Part A – Cont’d</vt:lpstr>
      <vt:lpstr>Generated two feature sets:</vt:lpstr>
      <vt:lpstr>PowerPoint Presentation</vt:lpstr>
      <vt:lpstr>Part B: Classical ML Sentiment Classifier</vt:lpstr>
      <vt:lpstr>PowerPoint Presentation</vt:lpstr>
      <vt:lpstr>PowerPoint Presentation</vt:lpstr>
      <vt:lpstr>PowerPoint Presentation</vt:lpstr>
      <vt:lpstr>Part B: Model 2 </vt:lpstr>
      <vt:lpstr>PowerPoint Presentation</vt:lpstr>
      <vt:lpstr>Evaluation metrics:</vt:lpstr>
      <vt:lpstr>PowerPoint Presentation</vt:lpstr>
      <vt:lpstr>The 5 misclassified examples</vt:lpstr>
      <vt:lpstr>Part C: Reinforcement Learning Model Selector</vt:lpstr>
      <vt:lpstr>Q-Learning Setup and Results</vt:lpstr>
      <vt:lpstr>Outputs</vt:lpstr>
      <vt:lpstr>PowerPoint Presentation</vt:lpstr>
      <vt:lpstr>Part D: Interpretation – When RL Chooses ML vs DL</vt:lpstr>
      <vt:lpstr>Question_2: Retail Customer Behavior and Marketing Insights - overview</vt:lpstr>
      <vt:lpstr>Implementation </vt:lpstr>
      <vt:lpstr>Part A: Data Cleaning and Customer Clustering</vt:lpstr>
      <vt:lpstr>Data cleaning </vt:lpstr>
      <vt:lpstr>Customer level features: Aggregates transactions per customer to compute spending, invoice counts, quantities, basket size, and average order value. </vt:lpstr>
      <vt:lpstr>K-means clustering with computed silhouette scores </vt:lpstr>
      <vt:lpstr>Visualization with PCA/t-SNE</vt:lpstr>
      <vt:lpstr>Part B: Deep Embedding Clustering with Autoencoder (Chose Autoencoder)</vt:lpstr>
      <vt:lpstr>Building the Autoencorder to minimize reconstruction error</vt:lpstr>
      <vt:lpstr>Visualized latent embeddings</vt:lpstr>
      <vt:lpstr>Comparing PCA and Autoencoder Clusters</vt:lpstr>
      <vt:lpstr>Part C: Association Rule Mining</vt:lpstr>
      <vt:lpstr>Part C: Cont’d </vt:lpstr>
      <vt:lpstr>Part C: Cont’d </vt:lpstr>
      <vt:lpstr>Interpretation of 3 Association Rules</vt:lpstr>
      <vt:lpstr>Part D: Interpretation and Business 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 AtoZ</dc:creator>
  <cp:lastModifiedBy>ALL AtoZ</cp:lastModifiedBy>
  <cp:revision>33</cp:revision>
  <dcterms:created xsi:type="dcterms:W3CDTF">2025-12-12T19:30:21Z</dcterms:created>
  <dcterms:modified xsi:type="dcterms:W3CDTF">2025-12-13T06:08:28Z</dcterms:modified>
</cp:coreProperties>
</file>